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60" r:id="rId1"/>
  </p:sldMasterIdLst>
  <p:notesMasterIdLst>
    <p:notesMasterId r:id="rId2"/>
  </p:notesMasterIdLst>
  <p:sldIdLst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2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6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1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2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7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8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0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5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6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5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6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"/>
          <p:cNvSpPr txBox="1"/>
          <p:nvPr/>
        </p:nvSpPr>
        <p:spPr>
          <a:xfrm>
            <a:off x="-262941" y="0"/>
            <a:ext cx="12161218" cy="6276976"/>
          </a:xfrm>
          <a:prstGeom prst="rect"/>
        </p:spPr>
        <p:txBody>
          <a:bodyPr rtlCol="0" wrap="square">
            <a:spAutoFit/>
          </a:bodyPr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NNAMDI AZIKWE UNIVERSITY,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A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W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K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FACULTY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OF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BIOSCIENCES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DEPARTMENT OF APPLIED MICROBIOLOGY AND BREWING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                         COURSE TITLE: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SEMINAR IN MICROBIOLOGY AND BIO TECHNOLOGY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C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O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U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R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S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E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C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O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D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E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: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4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9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0</a:t>
            </a:r>
            <a:endParaRPr altLang="en-US" lang="zh-CN"/>
          </a:p>
          <a:p>
            <a:pPr algn="r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.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AMB 490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TOPIC :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EFFECTS OF MICROORGANISMS ON FOOD QUALITY AND SAFETY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B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Y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NWOFOR, NKEMAKONAM CLARE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REGISTRATION NUMBER: 2022484102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SUPERVISOR : DR.  N.N OKONKWO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                                                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DATE: JANUARY, 2026</a:t>
            </a: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  <a:endParaRPr altLang="en-US" lang="zh-CN"/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</a:t>
            </a:r>
          </a:p>
          <a:p>
            <a:pPr algn="l"/>
            <a:r>
              <a:rPr b="0" sz="1100" i="0" lang="en-US">
                <a:solidFill>
                  <a:srgbClr val="000000"/>
                </a:solidFill>
                <a:latin typeface="Calibri"/>
                <a:ea typeface="宋体"/>
                <a:cs typeface="Times New Roman"/>
              </a:rPr>
              <a:t>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"/>
          <p:cNvSpPr txBox="1"/>
          <p:nvPr/>
        </p:nvSpPr>
        <p:spPr>
          <a:xfrm rot="18486">
            <a:off x="390793" y="695148"/>
            <a:ext cx="8742884" cy="38633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INTRODUCTION</a:t>
            </a:r>
            <a:endParaRPr b="1"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Food quality and safety are public health concerns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Global food supply increases contamination risk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Food safety prevents health hazards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Food quality affects consumer acceptance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Microorganisms influence food safety and quality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Proper control and preservation improve food safety and shelf life.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"/>
          <p:cNvSpPr txBox="1"/>
          <p:nvPr/>
        </p:nvSpPr>
        <p:spPr>
          <a:xfrm>
            <a:off x="285151" y="591998"/>
            <a:ext cx="8569277" cy="4701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BASIC CONCEPTS</a:t>
            </a:r>
            <a:endParaRPr b="1"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Microorganisms: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are very small living organisms that cannot be seen without a microscope.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bacteria, fungi, viruses, parasites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Food quality: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refers to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earance</a:t>
            </a:r>
            <a:r>
              <a:rPr sz="2800" lang="en-US">
                <a:solidFill>
                  <a:srgbClr val="000000"/>
                </a:solidFill>
              </a:rPr>
              <a:t>,</a:t>
            </a:r>
            <a:r>
              <a:rPr sz="2800" lang="en-US">
                <a:solidFill>
                  <a:srgbClr val="000000"/>
                </a:solidFill>
              </a:rPr>
              <a:t> taste</a:t>
            </a:r>
            <a:r>
              <a:rPr sz="2800" lang="en-US">
                <a:solidFill>
                  <a:srgbClr val="000000"/>
                </a:solidFill>
              </a:rPr>
              <a:t>,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texture, aroma, and nutritional value of food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Food safety: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means food free from harmful </a:t>
            </a:r>
            <a:r>
              <a:rPr sz="2800" lang="en-US">
                <a:solidFill>
                  <a:srgbClr val="000000"/>
                </a:solidFill>
              </a:rPr>
              <a:t>microorganisms, toxins, and contaminant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Importance:</a:t>
            </a:r>
            <a:r>
              <a:rPr sz="2800" lang="en-US">
                <a:solidFill>
                  <a:srgbClr val="000000"/>
                </a:solidFill>
              </a:rPr>
              <a:t> Understanding these concepts helps prevent illness and ensures safe, high-quality food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"/>
          <p:cNvSpPr txBox="1"/>
          <p:nvPr/>
        </p:nvSpPr>
        <p:spPr>
          <a:xfrm rot="5048">
            <a:off x="232766" y="380887"/>
            <a:ext cx="8678468" cy="5120640"/>
          </a:xfrm>
          <a:prstGeom prst="rect"/>
        </p:spPr>
        <p:txBody>
          <a:bodyPr rtlCol="0" wrap="square">
            <a:spAutoFit/>
          </a:bodyPr>
          <a:p>
            <a:pPr indent="0" marL="0">
              <a:buNone/>
            </a:pP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CAUSES OF MICROBIAL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CONTAMINATION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0" marL="0">
              <a:buNone/>
            </a:pP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Pre-harvest: </a:t>
            </a:r>
            <a:r>
              <a:rPr altLang="en-US" b="0" sz="2800" lang="en-US">
                <a:solidFill>
                  <a:srgbClr val="000000"/>
                </a:solidFill>
              </a:rPr>
              <a:t>Food contamination can occur before harvest through </a:t>
            </a:r>
            <a:r>
              <a:rPr b="0" sz="2800" lang="en-US">
                <a:solidFill>
                  <a:srgbClr val="000000"/>
                </a:solidFill>
              </a:rPr>
              <a:t>s</a:t>
            </a:r>
            <a:r>
              <a:rPr b="0" sz="2800" lang="en-US">
                <a:solidFill>
                  <a:srgbClr val="000000"/>
                </a:solidFill>
              </a:rPr>
              <a:t>o</a:t>
            </a:r>
            <a:r>
              <a:rPr b="0" sz="2800" lang="en-US">
                <a:solidFill>
                  <a:srgbClr val="000000"/>
                </a:solidFill>
              </a:rPr>
              <a:t>i</a:t>
            </a:r>
            <a:r>
              <a:rPr b="0" sz="2800" lang="en-US">
                <a:solidFill>
                  <a:srgbClr val="000000"/>
                </a:solidFill>
              </a:rPr>
              <a:t>l</a:t>
            </a:r>
            <a:r>
              <a:rPr b="0" sz="2800" lang="en-US">
                <a:solidFill>
                  <a:srgbClr val="000000"/>
                </a:solidFill>
              </a:rPr>
              <a:t>,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w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t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r</a:t>
            </a:r>
            <a:r>
              <a:rPr b="0" sz="2800" lang="en-US">
                <a:solidFill>
                  <a:srgbClr val="000000"/>
                </a:solidFill>
              </a:rPr>
              <a:t>,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n</a:t>
            </a:r>
            <a:r>
              <a:rPr b="0" sz="2800" lang="en-US">
                <a:solidFill>
                  <a:srgbClr val="000000"/>
                </a:solidFill>
              </a:rPr>
              <a:t>i</a:t>
            </a:r>
            <a:r>
              <a:rPr b="0" sz="2800" lang="en-US">
                <a:solidFill>
                  <a:srgbClr val="000000"/>
                </a:solidFill>
              </a:rPr>
              <a:t>m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s, manure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Post-harvest: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contamination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after harvest through poor handling and hygiene.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Microbial traits: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Some microorganisms also produce spores and toxins that increase contamination.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Other factors:</a:t>
            </a:r>
            <a:r>
              <a:rPr sz="2800" lang="en-US">
                <a:solidFill>
                  <a:srgbClr val="000000"/>
                </a:solidFill>
              </a:rPr>
              <a:t> Contaminated equipment, surfaces, and water during processing; inadequate cooking or preservation methods.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"/>
          <p:cNvSpPr txBox="1"/>
          <p:nvPr/>
        </p:nvSpPr>
        <p:spPr>
          <a:xfrm>
            <a:off x="461959" y="488246"/>
            <a:ext cx="7548977" cy="5120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ROLES OF MICROORGANISMS</a:t>
            </a:r>
            <a:endParaRPr sz="2800" lang="en-US">
              <a:solidFill>
                <a:srgbClr val="000000"/>
              </a:solidFill>
            </a:endParaRPr>
          </a:p>
          <a:p>
            <a:pPr indent="0" marL="0">
              <a:buNone/>
            </a:pPr>
            <a:endParaRPr sz="2800" lang="en-US">
              <a:solidFill>
                <a:srgbClr val="000000"/>
              </a:solidFill>
            </a:endParaRPr>
          </a:p>
          <a:p>
            <a:pPr algn="l"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Beneficial:</a:t>
            </a:r>
            <a:r>
              <a:rPr sz="2800" lang="en-US">
                <a:solidFill>
                  <a:srgbClr val="000000"/>
                </a:solidFill>
              </a:rPr>
              <a:t> Microorganisms can be beneficial, such as in fermentation and probiotics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algn="l"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Harmful: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harmful by causing spoilage and foodborne diseases.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Modern Food Processing: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sed in dairy, bread, beverages, and biopreservation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b="1" sz="2800" lang="en-US">
                <a:solidFill>
                  <a:srgbClr val="000000"/>
                </a:solidFill>
              </a:rPr>
              <a:t>Nutritional Enhancement: </a:t>
            </a:r>
            <a:r>
              <a:rPr sz="2800" lang="en-US">
                <a:solidFill>
                  <a:srgbClr val="000000"/>
                </a:solidFill>
              </a:rPr>
              <a:t>Some microbes increase vitamins and protein digestibility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"/>
          <p:cNvSpPr txBox="1"/>
          <p:nvPr/>
        </p:nvSpPr>
        <p:spPr>
          <a:xfrm>
            <a:off x="264401" y="264314"/>
            <a:ext cx="8879598" cy="5120641"/>
          </a:xfrm>
          <a:prstGeom prst="rect"/>
        </p:spPr>
        <p:txBody>
          <a:bodyPr rtlCol="0" wrap="square">
            <a:spAutoFit/>
          </a:bodyPr>
          <a:p>
            <a:pPr indent="0" marL="0">
              <a:buNone/>
            </a:pP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EFFECTS OF MICROORGANISMS ON FOOD QUALITY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AND SAFETY</a:t>
            </a:r>
            <a:endParaRPr b="1" sz="2800" lang="en-US">
              <a:solidFill>
                <a:srgbClr val="000000"/>
              </a:solidFill>
            </a:endParaRPr>
          </a:p>
          <a:p>
            <a:pPr indent="0" marL="0">
              <a:buNone/>
            </a:pPr>
            <a:endParaRPr b="1"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Improve flavor, texture, and shelf life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g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mentation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Used in yogurt, cheese, bread, and beverages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Some microbes enhance nutritional value (e.g., vitamins, probiotics)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Cause spoilage, off-odors, discoloration, and nutrient loss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Pathogens cause foodborne illnesses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Toxins remain harmful even after cooking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"/>
          <p:cNvSpPr txBox="1"/>
          <p:nvPr/>
        </p:nvSpPr>
        <p:spPr>
          <a:xfrm>
            <a:off x="228386" y="833906"/>
            <a:ext cx="8687228" cy="3863341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IMPACT ON HEALTH, ECONOMY &amp; SOCIETY
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  <a:latin typeface="Arial"/>
              </a:rPr>
              <a:t>Causes illness, death, and long-term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h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h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c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m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p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ications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  <a:latin typeface="Arial"/>
              </a:rPr>
              <a:t>Increases healthcare and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f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d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recall costs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  <a:latin typeface="Arial"/>
              </a:rPr>
              <a:t>Reduces public trust in food systems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  <a:latin typeface="Arial"/>
              </a:rPr>
              <a:t>Lowers workforce productivity due to sickness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  <a:latin typeface="Arial"/>
              </a:rPr>
              <a:t>Leads to loss of business and economic instability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  <a:latin typeface="Arial"/>
              </a:rPr>
              <a:t>Affects social behavior and community well-being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"/>
          <p:cNvSpPr txBox="1"/>
          <p:nvPr/>
        </p:nvSpPr>
        <p:spPr>
          <a:xfrm>
            <a:off x="357988" y="926879"/>
            <a:ext cx="8309525" cy="3444241"/>
          </a:xfrm>
          <a:prstGeom prst="rect"/>
        </p:spPr>
        <p:txBody>
          <a:bodyPr rtlCol="0" wrap="square">
            <a:spAutoFit/>
          </a:bodyPr>
          <a:p>
            <a:pPr indent="0" marL="0">
              <a:buNone/>
            </a:pP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PREVENTION AND CONTROL MEASURES</a:t>
            </a:r>
            <a:endParaRPr b="1" sz="2800" lang="en-US">
              <a:solidFill>
                <a:srgbClr val="000000"/>
              </a:solidFill>
            </a:endParaRPr>
          </a:p>
          <a:p>
            <a:pPr indent="0" marL="0">
              <a:buNone/>
            </a:pPr>
            <a:endParaRPr b="1"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Good 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hygiene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lers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oper cooking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ling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Modern technologies and biopreservation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g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erature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control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tion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q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ment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and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k</a:t>
            </a:r>
            <a:r>
              <a:rPr sz="2800" lang="en-US">
                <a:solidFill>
                  <a:srgbClr val="000000"/>
                </a:solidFill>
              </a:rPr>
              <a:t>aging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x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lf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life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"/>
          <p:cNvSpPr txBox="1"/>
          <p:nvPr/>
        </p:nvSpPr>
        <p:spPr>
          <a:xfrm rot="5978">
            <a:off x="209606" y="557676"/>
            <a:ext cx="8398397" cy="51206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CONCLUSION</a:t>
            </a:r>
            <a:r>
              <a:rPr sz="2800" lang="en-US">
                <a:solidFill>
                  <a:srgbClr val="000000"/>
                </a:solidFill>
              </a:rPr>
              <a:t>
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Microorganisms are present in all foods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They can be harmful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(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age</a:t>
            </a:r>
            <a:r>
              <a:rPr sz="2800" lang="en-US">
                <a:solidFill>
                  <a:srgbClr val="000000"/>
                </a:solidFill>
              </a:rPr>
              <a:t>,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g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)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r beneficial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(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,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)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Proper control ensures food safety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q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ality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Understanding microbial behavior helps prevent foodborne diseases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Modern preservation and hygiene practices reduce contamination risks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pPr indent="-457200" marL="457200">
              <a:buFont typeface="Arial"/>
              <a:buChar char="•"/>
            </a:pPr>
            <a:r>
              <a:rPr sz="2800" lang="en-US">
                <a:solidFill>
                  <a:srgbClr val="000000"/>
                </a:solidFill>
              </a:rPr>
              <a:t>Promoting beneficial microbes can improve nutrition and shelf life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"/>
          <p:cNvSpPr txBox="1"/>
          <p:nvPr/>
        </p:nvSpPr>
        <p:spPr>
          <a:xfrm>
            <a:off x="806744" y="2149432"/>
            <a:ext cx="7530512" cy="2047241"/>
          </a:xfrm>
          <a:prstGeom prst="rect"/>
        </p:spPr>
        <p:txBody>
          <a:bodyPr rtlCol="0" wrap="square">
            <a:spAutoFit/>
          </a:bodyPr>
          <a:p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THANK YOU </a:t>
            </a:r>
            <a:endParaRPr b="1" sz="7200" lang="en-US">
              <a:solidFill>
                <a:srgbClr val="000000"/>
              </a:solidFill>
            </a:endParaRPr>
          </a:p>
          <a:p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 </a:t>
            </a:r>
            <a:r>
              <a:rPr b="1" sz="6600" lang="en-US">
                <a:solidFill>
                  <a:srgbClr val="000000"/>
                </a:solidFill>
              </a:rPr>
              <a:t>FOR LISTENING </a:t>
            </a:r>
            <a:endParaRPr b="1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SM-G991U1</dc:creator>
  <dcterms:created xsi:type="dcterms:W3CDTF">2015-05-11T23:30:45Z</dcterms:created>
  <dcterms:modified xsi:type="dcterms:W3CDTF">2025-12-24T13:05:57Z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2eb7121935ce4e2787735e6254e61013</vt:lpwstr>
  </property>
</Properties>
</file>